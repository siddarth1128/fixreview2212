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3"/>
    <p:sldId id="257" r:id="rId4"/>
    <p:sldId id="258" r:id="rId5"/>
    <p:sldId id="259" r:id="rId6"/>
    <p:sldId id="260" r:id="rId7"/>
    <p:sldId id="262" r:id="rId8"/>
    <p:sldId id="263" r:id="rId9"/>
    <p:sldId id="264" r:id="rId10"/>
    <p:sldId id="265" r:id="rId11"/>
    <p:sldId id="282" r:id="rId12"/>
    <p:sldId id="275" r:id="rId13"/>
    <p:sldId id="266" r:id="rId14"/>
    <p:sldId id="277" r:id="rId15"/>
    <p:sldId id="278" r:id="rId16"/>
    <p:sldId id="267" r:id="rId17"/>
    <p:sldId id="279" r:id="rId18"/>
    <p:sldId id="280" r:id="rId19"/>
    <p:sldId id="281" r:id="rId20"/>
    <p:sldId id="268" r:id="rId21"/>
    <p:sldId id="269" r:id="rId22"/>
    <p:sldId id="270" r:id="rId23"/>
    <p:sldId id="271" r:id="rId24"/>
    <p:sldId id="284" r:id="rId25"/>
    <p:sldId id="276"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9" d="100"/>
          <a:sy n="59" d="100"/>
        </p:scale>
        <p:origin x="-1206" y="-84"/>
      </p:cViewPr>
      <p:guideLst>
        <p:guide orient="horz" pos="2160"/>
        <p:guide pos="2880"/>
      </p:guideLst>
    </p:cSldViewPr>
  </p:slideViewPr>
  <p:notesTextViewPr>
    <p:cViewPr>
      <p:scale>
        <a:sx n="100" d="100"/>
        <a:sy n="100" d="100"/>
      </p:scale>
      <p:origin x="0" y="0"/>
    </p:cViewPr>
  </p:notesTextViewPr>
  <p:gridSpacing cx="72009" cy="72009"/>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1A2A745-020B-4086-A9AC-262FE7348645}"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61A2A745-020B-4086-A9AC-262FE7348645}"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1A2A745-020B-4086-A9AC-262FE7348645}"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Date Placeholder 4"/>
          <p:cNvSpPr>
            <a:spLocks noGrp="1"/>
          </p:cNvSpPr>
          <p:nvPr>
            <p:ph type="dt" sz="half" idx="10"/>
          </p:nvPr>
        </p:nvSpPr>
        <p:spPr/>
        <p:txBody>
          <a:bodyPr/>
          <a:lstStyle/>
          <a:p>
            <a:fld id="{61A2A745-020B-4086-A9AC-262FE7348645}"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7" name="Date Placeholder 6"/>
          <p:cNvSpPr>
            <a:spLocks noGrp="1"/>
          </p:cNvSpPr>
          <p:nvPr>
            <p:ph type="dt" sz="half" idx="10"/>
          </p:nvPr>
        </p:nvSpPr>
        <p:spPr/>
        <p:txBody>
          <a:bodyPr/>
          <a:lstStyle/>
          <a:p>
            <a:fld id="{61A2A745-020B-4086-A9AC-262FE7348645}" type="datetimeFigureOut">
              <a:rPr lang="en-US"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1A2A745-020B-4086-A9AC-262FE7348645}" type="datetimeFigureOut">
              <a:rPr lang="en-US"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A2A745-020B-4086-A9AC-262FE7348645}" type="datetimeFigureOut">
              <a:rPr lang="en-US"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1A2A745-020B-4086-A9AC-262FE7348645}"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1A2A745-020B-4086-A9AC-262FE7348645}" type="datetimeFigureOut">
              <a:rPr lang="en-US"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61A2A745-020B-4086-A9AC-262FE7348645}"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10"/>
          </p:nvPr>
        </p:nvSpPr>
        <p:spPr/>
        <p:txBody>
          <a:bodyPr/>
          <a:lstStyle/>
          <a:p>
            <a:fld id="{61A2A745-020B-4086-A9AC-262FE7348645}" type="datetimeFigureOut">
              <a:rPr lang="en-US"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1BB4BA-9AE1-4737-BC10-FE9163E7B4D3}"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A2A745-020B-4086-A9AC-262FE7348645}" type="datetimeFigureOut">
              <a:rPr lang="en-US" smtClean="0"/>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1BB4BA-9AE1-4737-BC10-FE9163E7B4D3}"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214291"/>
            <a:ext cx="7772400" cy="857256"/>
          </a:xfrm>
        </p:spPr>
        <p:txBody>
          <a:bodyPr>
            <a:normAutofit/>
          </a:bodyPr>
          <a:lstStyle/>
          <a:p>
            <a:r>
              <a:rPr lang="en-IN" sz="4000" b="1" dirty="0" err="1" smtClean="0">
                <a:latin typeface="Times New Roman" panose="02020603050405020304" pitchFamily="18" charset="0"/>
                <a:cs typeface="Times New Roman" panose="02020603050405020304" pitchFamily="18" charset="0"/>
              </a:rPr>
              <a:t>Nagios</a:t>
            </a:r>
            <a:r>
              <a:rPr lang="en-IN" sz="4000" b="1" dirty="0" smtClean="0">
                <a:latin typeface="Times New Roman" panose="02020603050405020304" pitchFamily="18" charset="0"/>
                <a:cs typeface="Times New Roman" panose="02020603050405020304" pitchFamily="18" charset="0"/>
              </a:rPr>
              <a:t> </a:t>
            </a:r>
            <a:endParaRPr lang="en-IN" sz="40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28596" y="1357298"/>
            <a:ext cx="8072494" cy="4714908"/>
          </a:xfrm>
        </p:spPr>
        <p:txBody>
          <a:bodyPr>
            <a:noAutofit/>
          </a:bodyPr>
          <a:lstStyle/>
          <a:p>
            <a:pPr marL="518160" indent="-457200" algn="just">
              <a:spcBef>
                <a:spcPts val="600"/>
              </a:spcBef>
              <a:buFont typeface="Arial" panose="020B0604020202020204" pitchFamily="34" charset="0"/>
              <a:buChar char="•"/>
            </a:pPr>
            <a:r>
              <a:rPr lang="en-IN" sz="2800" dirty="0" smtClean="0">
                <a:solidFill>
                  <a:schemeClr val="tx1"/>
                </a:solidFill>
                <a:latin typeface="Times New Roman" panose="02020603050405020304" pitchFamily="18" charset="0"/>
                <a:cs typeface="Times New Roman" panose="02020603050405020304" pitchFamily="18" charset="0"/>
              </a:rPr>
              <a:t>It is open source software for continuous monitoring of systems, networks, and infrastructures. </a:t>
            </a:r>
            <a:endParaRPr lang="en-IN" sz="2800"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sz="2800" dirty="0" smtClean="0">
                <a:solidFill>
                  <a:schemeClr val="tx1"/>
                </a:solidFill>
                <a:latin typeface="Times New Roman" panose="02020603050405020304" pitchFamily="18" charset="0"/>
                <a:cs typeface="Times New Roman" panose="02020603050405020304" pitchFamily="18" charset="0"/>
              </a:rPr>
              <a:t>It runs </a:t>
            </a:r>
            <a:r>
              <a:rPr lang="en-IN" sz="2800" dirty="0" err="1" smtClean="0">
                <a:solidFill>
                  <a:schemeClr val="tx1"/>
                </a:solidFill>
                <a:latin typeface="Times New Roman" panose="02020603050405020304" pitchFamily="18" charset="0"/>
                <a:cs typeface="Times New Roman" panose="02020603050405020304" pitchFamily="18" charset="0"/>
              </a:rPr>
              <a:t>plugins</a:t>
            </a:r>
            <a:r>
              <a:rPr lang="en-IN" sz="2800" dirty="0" smtClean="0">
                <a:solidFill>
                  <a:schemeClr val="tx1"/>
                </a:solidFill>
                <a:latin typeface="Times New Roman" panose="02020603050405020304" pitchFamily="18" charset="0"/>
                <a:cs typeface="Times New Roman" panose="02020603050405020304" pitchFamily="18" charset="0"/>
              </a:rPr>
              <a:t> stored on a server which is connected with a host or another server on your network or the Internet. </a:t>
            </a:r>
            <a:endParaRPr lang="en-IN" sz="2800"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sz="2800" dirty="0" smtClean="0">
                <a:solidFill>
                  <a:schemeClr val="tx1"/>
                </a:solidFill>
                <a:latin typeface="Times New Roman" panose="02020603050405020304" pitchFamily="18" charset="0"/>
                <a:cs typeface="Times New Roman" panose="02020603050405020304" pitchFamily="18" charset="0"/>
              </a:rPr>
              <a:t>In case of any failure, </a:t>
            </a:r>
            <a:r>
              <a:rPr lang="en-IN" sz="2800" dirty="0" err="1" smtClean="0">
                <a:solidFill>
                  <a:schemeClr val="tx1"/>
                </a:solidFill>
                <a:latin typeface="Times New Roman" panose="02020603050405020304" pitchFamily="18" charset="0"/>
                <a:cs typeface="Times New Roman" panose="02020603050405020304" pitchFamily="18" charset="0"/>
              </a:rPr>
              <a:t>Nagios</a:t>
            </a:r>
            <a:r>
              <a:rPr lang="en-IN" sz="2800" dirty="0" smtClean="0">
                <a:solidFill>
                  <a:schemeClr val="tx1"/>
                </a:solidFill>
                <a:latin typeface="Times New Roman" panose="02020603050405020304" pitchFamily="18" charset="0"/>
                <a:cs typeface="Times New Roman" panose="02020603050405020304" pitchFamily="18" charset="0"/>
              </a:rPr>
              <a:t> alerts about the issues so that the technical team can perform recovery process immediately</a:t>
            </a:r>
            <a:endParaRPr lang="en-IN"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429684" cy="714380"/>
          </a:xfrm>
        </p:spPr>
        <p:txBody>
          <a:bodyPr>
            <a:normAutofit fontScale="90000"/>
          </a:bodyPr>
          <a:lstStyle/>
          <a:p>
            <a:r>
              <a:rPr lang="en-IN" b="1" dirty="0" smtClean="0"/>
              <a:t>Need </a:t>
            </a:r>
            <a:r>
              <a:rPr lang="en-IN" b="1" dirty="0" err="1" smtClean="0"/>
              <a:t>Nagios</a:t>
            </a:r>
            <a:r>
              <a:rPr lang="en-IN" b="1" dirty="0" smtClean="0"/>
              <a:t> tool</a:t>
            </a:r>
            <a:endParaRPr lang="en-IN" b="1" dirty="0"/>
          </a:p>
        </p:txBody>
      </p:sp>
      <p:sp>
        <p:nvSpPr>
          <p:cNvPr id="3" name="Subtitle 2"/>
          <p:cNvSpPr>
            <a:spLocks noGrp="1"/>
          </p:cNvSpPr>
          <p:nvPr>
            <p:ph type="subTitle" idx="1"/>
          </p:nvPr>
        </p:nvSpPr>
        <p:spPr>
          <a:xfrm>
            <a:off x="357158" y="1357298"/>
            <a:ext cx="8429684" cy="4786346"/>
          </a:xfrm>
        </p:spPr>
        <p:txBody>
          <a:bodyPr>
            <a:normAutofit fontScale="85000" lnSpcReduction="10000"/>
          </a:bodyPr>
          <a:lstStyle/>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Detects all types of network or server issues</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Helps you to find the root cause of the problem which allows you to get the permanent solution to the problem</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Active monitoring of your entire infrastructure and business processes</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Allows you to monitors and troubleshoot server performance issues</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Helps you to plan for infrastructure upgrades before outdated systems create failures</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You can maintain the security and availability of the service</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r>
              <a:rPr lang="en-IN" dirty="0" smtClean="0">
                <a:solidFill>
                  <a:schemeClr val="tx1"/>
                </a:solidFill>
                <a:latin typeface="Times New Roman" panose="02020603050405020304" pitchFamily="18" charset="0"/>
                <a:cs typeface="Times New Roman" panose="02020603050405020304" pitchFamily="18" charset="0"/>
              </a:rPr>
              <a:t>Automatically fix problems in a panic situation</a:t>
            </a:r>
            <a:endParaRPr lang="en-IN" dirty="0" smtClean="0">
              <a:solidFill>
                <a:schemeClr val="tx1"/>
              </a:solidFill>
              <a:latin typeface="Times New Roman" panose="02020603050405020304" pitchFamily="18" charset="0"/>
              <a:cs typeface="Times New Roman" panose="02020603050405020304" pitchFamily="18" charset="0"/>
            </a:endParaRPr>
          </a:p>
          <a:p>
            <a:pPr marL="575310" indent="-514350" algn="just">
              <a:spcBef>
                <a:spcPts val="125"/>
              </a:spcBef>
              <a:buFont typeface="+mj-lt"/>
              <a:buAutoNum type="arabicPeriod"/>
            </a:pPr>
            <a:endParaRPr lang="en-IN"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0"/>
            <a:ext cx="8429684" cy="1071546"/>
          </a:xfrm>
        </p:spPr>
        <p:txBody>
          <a:bodyPr>
            <a:normAutofit/>
          </a:bodyPr>
          <a:lstStyle/>
          <a:p>
            <a:r>
              <a:rPr lang="en-IN" b="1" dirty="0"/>
              <a:t>Features of </a:t>
            </a:r>
            <a:r>
              <a:rPr lang="en-IN" b="1" dirty="0" err="1" smtClean="0"/>
              <a:t>Nagios</a:t>
            </a:r>
            <a:endParaRPr lang="en-IN" dirty="0"/>
          </a:p>
        </p:txBody>
      </p:sp>
      <p:sp>
        <p:nvSpPr>
          <p:cNvPr id="3" name="Subtitle 2"/>
          <p:cNvSpPr>
            <a:spLocks noGrp="1"/>
          </p:cNvSpPr>
          <p:nvPr>
            <p:ph type="subTitle" idx="1"/>
          </p:nvPr>
        </p:nvSpPr>
        <p:spPr>
          <a:xfrm>
            <a:off x="214282" y="1285860"/>
            <a:ext cx="8929718" cy="5000660"/>
          </a:xfrm>
        </p:spPr>
        <p:txBody>
          <a:bodyPr>
            <a:noAutofit/>
          </a:bodyPr>
          <a:lstStyle/>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Relatively scalable, Manageable, and Secure</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Good log and database system</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Informative and attractive web interfaces</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Automatically send alerts if condition changes</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If the services are running fine, then there is no need to do check that host is an alive</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Helps you to detect network errors or server crashes</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You can troubleshoot the performance issues of the server.</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issues, if any, can be fixed automatically as they are identified during the monitoring process</a:t>
            </a:r>
            <a:endParaRPr lang="en-IN" sz="2400" dirty="0">
              <a:solidFill>
                <a:schemeClr val="tx1"/>
              </a:solidFill>
              <a:latin typeface="Times New Roman" panose="02020603050405020304" pitchFamily="18" charset="0"/>
              <a:cs typeface="Times New Roman" panose="02020603050405020304" pitchFamily="18" charset="0"/>
            </a:endParaRPr>
          </a:p>
          <a:p>
            <a:pPr marL="518160" indent="-457200" algn="just">
              <a:spcBef>
                <a:spcPts val="75"/>
              </a:spcBef>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You can monitor the entire business process and IT infrastructure with a single pass</a:t>
            </a:r>
            <a:endParaRPr lang="en-IN" sz="2400" dirty="0">
              <a:solidFill>
                <a:schemeClr val="tx1"/>
              </a:solidFill>
              <a:latin typeface="Times New Roman" panose="02020603050405020304" pitchFamily="18" charset="0"/>
              <a:cs typeface="Times New Roman" panose="02020603050405020304" pitchFamily="18" charset="0"/>
            </a:endParaRPr>
          </a:p>
          <a:p>
            <a:pPr algn="just"/>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428605"/>
            <a:ext cx="8501122" cy="714380"/>
          </a:xfrm>
        </p:spPr>
        <p:txBody>
          <a:bodyPr>
            <a:normAutofit fontScale="90000"/>
          </a:bodyPr>
          <a:lstStyle/>
          <a:p>
            <a:r>
              <a:rPr lang="en-IN" dirty="0" smtClean="0"/>
              <a:t>Continued...</a:t>
            </a:r>
            <a:endParaRPr lang="en-IN" dirty="0"/>
          </a:p>
        </p:txBody>
      </p:sp>
      <p:sp>
        <p:nvSpPr>
          <p:cNvPr id="3" name="Subtitle 2"/>
          <p:cNvSpPr>
            <a:spLocks noGrp="1"/>
          </p:cNvSpPr>
          <p:nvPr>
            <p:ph type="subTitle" idx="1"/>
          </p:nvPr>
        </p:nvSpPr>
        <p:spPr>
          <a:xfrm>
            <a:off x="285720" y="1357298"/>
            <a:ext cx="8501122" cy="4786346"/>
          </a:xfrm>
        </p:spPr>
        <p:txBody>
          <a:bodyPr>
            <a:normAutofit fontScale="77500" lnSpcReduction="20000"/>
          </a:bodyPr>
          <a:lstStyle/>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The product’s architecture is easy writing new </a:t>
            </a:r>
            <a:r>
              <a:rPr lang="en-IN" dirty="0" err="1" smtClean="0">
                <a:solidFill>
                  <a:schemeClr val="tx1"/>
                </a:solidFill>
                <a:latin typeface="Times New Roman" panose="02020603050405020304" pitchFamily="18" charset="0"/>
                <a:cs typeface="Times New Roman" panose="02020603050405020304" pitchFamily="18" charset="0"/>
              </a:rPr>
              <a:t>plugins</a:t>
            </a:r>
            <a:r>
              <a:rPr lang="en-IN" dirty="0" smtClean="0">
                <a:solidFill>
                  <a:schemeClr val="tx1"/>
                </a:solidFill>
                <a:latin typeface="Times New Roman" panose="02020603050405020304" pitchFamily="18" charset="0"/>
                <a:cs typeface="Times New Roman" panose="02020603050405020304" pitchFamily="18" charset="0"/>
              </a:rPr>
              <a:t> in the language of your choice</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err="1" smtClean="0">
                <a:solidFill>
                  <a:schemeClr val="tx1"/>
                </a:solidFill>
                <a:latin typeface="Times New Roman" panose="02020603050405020304" pitchFamily="18" charset="0"/>
                <a:cs typeface="Times New Roman" panose="02020603050405020304" pitchFamily="18" charset="0"/>
              </a:rPr>
              <a:t>Nagios</a:t>
            </a:r>
            <a:r>
              <a:rPr lang="en-IN" dirty="0" smtClean="0">
                <a:solidFill>
                  <a:schemeClr val="tx1"/>
                </a:solidFill>
                <a:latin typeface="Times New Roman" panose="02020603050405020304" pitchFamily="18" charset="0"/>
                <a:cs typeface="Times New Roman" panose="02020603050405020304" pitchFamily="18" charset="0"/>
              </a:rPr>
              <a:t> allows you to read its configuration from an entire directory which helps you to decide how to define individual files</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Utilizes topology to determine dependencies</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Monitor network services like HTTP, SMTP, HTTP, SNMP, FTP, SSH, POP, etc.</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Helps you to define network host hierarchy using parent hosts</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Ability to define event handlers which runs during service or host events for proactive problem resolution</a:t>
            </a:r>
            <a:endParaRPr lang="en-IN" dirty="0" smtClean="0">
              <a:solidFill>
                <a:schemeClr val="tx1"/>
              </a:solidFill>
              <a:latin typeface="Times New Roman" panose="02020603050405020304" pitchFamily="18" charset="0"/>
              <a:cs typeface="Times New Roman" panose="02020603050405020304" pitchFamily="18" charset="0"/>
            </a:endParaRPr>
          </a:p>
          <a:p>
            <a:pPr marL="518160" indent="-457200" algn="just">
              <a:spcBef>
                <a:spcPts val="600"/>
              </a:spcBef>
              <a:buFont typeface="Arial" panose="020B0604020202020204" pitchFamily="34" charset="0"/>
              <a:buChar char="•"/>
            </a:pPr>
            <a:r>
              <a:rPr lang="en-IN" dirty="0" smtClean="0">
                <a:solidFill>
                  <a:schemeClr val="tx1"/>
                </a:solidFill>
                <a:latin typeface="Times New Roman" panose="02020603050405020304" pitchFamily="18" charset="0"/>
                <a:cs typeface="Times New Roman" panose="02020603050405020304" pitchFamily="18" charset="0"/>
              </a:rPr>
              <a:t>Support for implementing redundant monitoring hosts</a:t>
            </a:r>
            <a:endParaRPr lang="en-IN" dirty="0" smtClean="0">
              <a:solidFill>
                <a:schemeClr val="tx1"/>
              </a:solidFill>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0"/>
            <a:ext cx="8429684" cy="714380"/>
          </a:xfrm>
        </p:spPr>
        <p:txBody>
          <a:bodyPr>
            <a:normAutofit/>
          </a:bodyPr>
          <a:lstStyle/>
          <a:p>
            <a:r>
              <a:rPr lang="en-IN" sz="3600" b="1" dirty="0" err="1"/>
              <a:t>Nagios</a:t>
            </a:r>
            <a:r>
              <a:rPr lang="en-IN" sz="3600" b="1" dirty="0"/>
              <a:t> </a:t>
            </a:r>
            <a:r>
              <a:rPr lang="en-IN" sz="3600" b="1" dirty="0" smtClean="0"/>
              <a:t>Architecture</a:t>
            </a:r>
            <a:endParaRPr lang="en-IN" sz="3600" b="1" dirty="0"/>
          </a:p>
        </p:txBody>
      </p:sp>
      <p:sp>
        <p:nvSpPr>
          <p:cNvPr id="3" name="Subtitle 2"/>
          <p:cNvSpPr>
            <a:spLocks noGrp="1"/>
          </p:cNvSpPr>
          <p:nvPr>
            <p:ph type="subTitle" idx="1"/>
          </p:nvPr>
        </p:nvSpPr>
        <p:spPr>
          <a:xfrm>
            <a:off x="357158" y="714356"/>
            <a:ext cx="8429684" cy="5429288"/>
          </a:xfrm>
        </p:spPr>
        <p:txBody>
          <a:bodyPr>
            <a:normAutofit/>
          </a:bodyPr>
          <a:lstStyle/>
          <a:p>
            <a:pPr marL="518160" indent="-457200" algn="just">
              <a:buFont typeface="Arial" panose="020B0604020202020204" pitchFamily="34" charset="0"/>
              <a:buChar char="•"/>
            </a:pPr>
            <a:r>
              <a:rPr lang="en-IN" sz="2800" dirty="0" err="1">
                <a:solidFill>
                  <a:schemeClr val="tx1"/>
                </a:solidFill>
                <a:latin typeface="Times New Roman" panose="02020603050405020304" pitchFamily="18" charset="0"/>
                <a:cs typeface="Times New Roman" panose="02020603050405020304" pitchFamily="18" charset="0"/>
              </a:rPr>
              <a:t>Nagios</a:t>
            </a:r>
            <a:r>
              <a:rPr lang="en-IN" sz="2800" dirty="0">
                <a:solidFill>
                  <a:schemeClr val="tx1"/>
                </a:solidFill>
                <a:latin typeface="Times New Roman" panose="02020603050405020304" pitchFamily="18" charset="0"/>
                <a:cs typeface="Times New Roman" panose="02020603050405020304" pitchFamily="18" charset="0"/>
              </a:rPr>
              <a:t> is a client-server architecture. </a:t>
            </a:r>
            <a:endParaRPr lang="en-IN" sz="2800" dirty="0" smtClean="0">
              <a:solidFill>
                <a:schemeClr val="tx1"/>
              </a:solidFill>
              <a:latin typeface="Times New Roman" panose="02020603050405020304" pitchFamily="18" charset="0"/>
              <a:cs typeface="Times New Roman" panose="02020603050405020304" pitchFamily="18" charset="0"/>
            </a:endParaRPr>
          </a:p>
          <a:p>
            <a:pPr marL="518160" indent="-457200" algn="just">
              <a:buFont typeface="Arial" panose="020B0604020202020204" pitchFamily="34" charset="0"/>
              <a:buChar char="•"/>
            </a:pPr>
            <a:r>
              <a:rPr lang="en-IN" sz="2800" dirty="0" err="1" smtClean="0">
                <a:solidFill>
                  <a:schemeClr val="tx1"/>
                </a:solidFill>
                <a:latin typeface="Times New Roman" panose="02020603050405020304" pitchFamily="18" charset="0"/>
                <a:cs typeface="Times New Roman" panose="02020603050405020304" pitchFamily="18" charset="0"/>
              </a:rPr>
              <a:t>Nagios</a:t>
            </a:r>
            <a:r>
              <a:rPr lang="en-IN" sz="2800" dirty="0" smtClean="0">
                <a:solidFill>
                  <a:schemeClr val="tx1"/>
                </a:solidFill>
                <a:latin typeface="Times New Roman" panose="02020603050405020304" pitchFamily="18" charset="0"/>
                <a:cs typeface="Times New Roman" panose="02020603050405020304" pitchFamily="18" charset="0"/>
              </a:rPr>
              <a:t> </a:t>
            </a:r>
            <a:r>
              <a:rPr lang="en-IN" sz="2800" dirty="0">
                <a:solidFill>
                  <a:schemeClr val="tx1"/>
                </a:solidFill>
                <a:latin typeface="Times New Roman" panose="02020603050405020304" pitchFamily="18" charset="0"/>
                <a:cs typeface="Times New Roman" panose="02020603050405020304" pitchFamily="18" charset="0"/>
              </a:rPr>
              <a:t>server </a:t>
            </a:r>
            <a:r>
              <a:rPr lang="en-IN" sz="2800" dirty="0" smtClean="0">
                <a:solidFill>
                  <a:schemeClr val="tx1"/>
                </a:solidFill>
                <a:latin typeface="Times New Roman" panose="02020603050405020304" pitchFamily="18" charset="0"/>
                <a:cs typeface="Times New Roman" panose="02020603050405020304" pitchFamily="18" charset="0"/>
              </a:rPr>
              <a:t>runs </a:t>
            </a:r>
            <a:r>
              <a:rPr lang="en-IN" sz="2800" dirty="0">
                <a:solidFill>
                  <a:schemeClr val="tx1"/>
                </a:solidFill>
                <a:latin typeface="Times New Roman" panose="02020603050405020304" pitchFamily="18" charset="0"/>
                <a:cs typeface="Times New Roman" panose="02020603050405020304" pitchFamily="18" charset="0"/>
              </a:rPr>
              <a:t>on a </a:t>
            </a:r>
            <a:r>
              <a:rPr lang="en-IN" sz="2800" dirty="0" smtClean="0">
                <a:solidFill>
                  <a:schemeClr val="tx1"/>
                </a:solidFill>
                <a:latin typeface="Times New Roman" panose="02020603050405020304" pitchFamily="18" charset="0"/>
                <a:cs typeface="Times New Roman" panose="02020603050405020304" pitchFamily="18" charset="0"/>
              </a:rPr>
              <a:t>host</a:t>
            </a:r>
            <a:endParaRPr lang="en-IN" sz="2800" dirty="0" smtClean="0">
              <a:solidFill>
                <a:schemeClr val="tx1"/>
              </a:solidFill>
              <a:latin typeface="Times New Roman" panose="02020603050405020304" pitchFamily="18" charset="0"/>
              <a:cs typeface="Times New Roman" panose="02020603050405020304" pitchFamily="18" charset="0"/>
            </a:endParaRPr>
          </a:p>
          <a:p>
            <a:pPr marL="518160" indent="-457200" algn="just">
              <a:buFont typeface="Arial" panose="020B0604020202020204" pitchFamily="34" charset="0"/>
              <a:buChar char="•"/>
            </a:pPr>
            <a:r>
              <a:rPr lang="en-IN" sz="2800" dirty="0" err="1" smtClean="0">
                <a:solidFill>
                  <a:schemeClr val="tx1"/>
                </a:solidFill>
                <a:latin typeface="Times New Roman" panose="02020603050405020304" pitchFamily="18" charset="0"/>
                <a:cs typeface="Times New Roman" panose="02020603050405020304" pitchFamily="18" charset="0"/>
              </a:rPr>
              <a:t>Plugins</a:t>
            </a:r>
            <a:r>
              <a:rPr lang="en-IN" sz="2800" dirty="0" smtClean="0">
                <a:solidFill>
                  <a:schemeClr val="tx1"/>
                </a:solidFill>
                <a:latin typeface="Times New Roman" panose="02020603050405020304" pitchFamily="18" charset="0"/>
                <a:cs typeface="Times New Roman" panose="02020603050405020304" pitchFamily="18" charset="0"/>
              </a:rPr>
              <a:t> running </a:t>
            </a:r>
            <a:r>
              <a:rPr lang="en-IN" sz="2800" dirty="0">
                <a:solidFill>
                  <a:schemeClr val="tx1"/>
                </a:solidFill>
                <a:latin typeface="Times New Roman" panose="02020603050405020304" pitchFamily="18" charset="0"/>
                <a:cs typeface="Times New Roman" panose="02020603050405020304" pitchFamily="18" charset="0"/>
              </a:rPr>
              <a:t>on all the remote hosts which should be </a:t>
            </a:r>
            <a:r>
              <a:rPr lang="en-IN" sz="2800" dirty="0" smtClean="0">
                <a:solidFill>
                  <a:schemeClr val="tx1"/>
                </a:solidFill>
                <a:latin typeface="Times New Roman" panose="02020603050405020304" pitchFamily="18" charset="0"/>
                <a:cs typeface="Times New Roman" panose="02020603050405020304" pitchFamily="18" charset="0"/>
              </a:rPr>
              <a:t>monitored</a:t>
            </a:r>
            <a:r>
              <a:rPr lang="en-IN" sz="2800" dirty="0" smtClean="0">
                <a:solidFill>
                  <a:schemeClr val="tx1"/>
                </a:solidFill>
              </a:rPr>
              <a:t>.</a:t>
            </a:r>
            <a:endParaRPr lang="en-IN" sz="2800" dirty="0" smtClean="0">
              <a:solidFill>
                <a:schemeClr val="tx1"/>
              </a:solidFill>
            </a:endParaRPr>
          </a:p>
          <a:p>
            <a:pPr marL="518160" indent="-457200" algn="just"/>
            <a:endParaRPr lang="en-IN" sz="2800" dirty="0">
              <a:solidFill>
                <a:schemeClr val="tx1"/>
              </a:solidFill>
            </a:endParaRPr>
          </a:p>
        </p:txBody>
      </p:sp>
      <p:pic>
        <p:nvPicPr>
          <p:cNvPr id="1026" name="Picture 2"/>
          <p:cNvPicPr>
            <a:picLocks noChangeAspect="1" noChangeArrowheads="1"/>
          </p:cNvPicPr>
          <p:nvPr/>
        </p:nvPicPr>
        <p:blipFill>
          <a:blip r:embed="rId1"/>
          <a:srcRect/>
          <a:stretch>
            <a:fillRect/>
          </a:stretch>
        </p:blipFill>
        <p:spPr bwMode="auto">
          <a:xfrm>
            <a:off x="0" y="2786082"/>
            <a:ext cx="9144000" cy="4000504"/>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Architecture</a:t>
            </a:r>
            <a:endParaRPr lang="en-IN" b="1" dirty="0"/>
          </a:p>
        </p:txBody>
      </p:sp>
      <p:sp>
        <p:nvSpPr>
          <p:cNvPr id="3" name="Content Placeholder 2"/>
          <p:cNvSpPr>
            <a:spLocks noGrp="1"/>
          </p:cNvSpPr>
          <p:nvPr>
            <p:ph idx="1"/>
          </p:nvPr>
        </p:nvSpPr>
        <p:spPr/>
        <p:txBody>
          <a:bodyPr>
            <a:normAutofit lnSpcReduction="10000"/>
          </a:bodyPr>
          <a:lstStyle/>
          <a:p>
            <a:pPr marL="514350" indent="-514350">
              <a:buFont typeface="+mj-lt"/>
              <a:buAutoNum type="arabicPeriod"/>
            </a:pPr>
            <a:r>
              <a:rPr lang="en-IN" dirty="0"/>
              <a:t>The scheduler is a component of server part of </a:t>
            </a:r>
            <a:r>
              <a:rPr lang="en-IN" dirty="0" err="1"/>
              <a:t>Nagios</a:t>
            </a:r>
            <a:r>
              <a:rPr lang="en-IN" dirty="0"/>
              <a:t>. It sends a signal to execute the </a:t>
            </a:r>
            <a:r>
              <a:rPr lang="en-IN" dirty="0" err="1"/>
              <a:t>plugins</a:t>
            </a:r>
            <a:r>
              <a:rPr lang="en-IN" dirty="0"/>
              <a:t> at the remote host.</a:t>
            </a:r>
            <a:endParaRPr lang="en-IN" dirty="0"/>
          </a:p>
          <a:p>
            <a:pPr marL="514350" indent="-514350">
              <a:buFont typeface="+mj-lt"/>
              <a:buAutoNum type="arabicPeriod"/>
            </a:pPr>
            <a:r>
              <a:rPr lang="en-IN" dirty="0"/>
              <a:t>The </a:t>
            </a:r>
            <a:r>
              <a:rPr lang="en-IN" dirty="0" err="1"/>
              <a:t>plugin</a:t>
            </a:r>
            <a:r>
              <a:rPr lang="en-IN" dirty="0"/>
              <a:t> gets the status from the remote host</a:t>
            </a:r>
            <a:endParaRPr lang="en-IN" dirty="0"/>
          </a:p>
          <a:p>
            <a:pPr marL="514350" indent="-514350">
              <a:buFont typeface="+mj-lt"/>
              <a:buAutoNum type="arabicPeriod"/>
            </a:pPr>
            <a:r>
              <a:rPr lang="en-IN" dirty="0"/>
              <a:t>The </a:t>
            </a:r>
            <a:r>
              <a:rPr lang="en-IN" dirty="0" err="1"/>
              <a:t>plugin</a:t>
            </a:r>
            <a:r>
              <a:rPr lang="en-IN" dirty="0"/>
              <a:t> sends the data to the process scheduler</a:t>
            </a:r>
            <a:endParaRPr lang="en-IN" dirty="0"/>
          </a:p>
          <a:p>
            <a:pPr marL="514350" indent="-514350">
              <a:buFont typeface="+mj-lt"/>
              <a:buAutoNum type="arabicPeriod"/>
            </a:pPr>
            <a:r>
              <a:rPr lang="en-IN" dirty="0"/>
              <a:t>The process scheduler updates the GUI and notifications are sent to </a:t>
            </a:r>
            <a:r>
              <a:rPr lang="en-IN" dirty="0" err="1"/>
              <a:t>admins</a:t>
            </a:r>
            <a:endParaRPr lang="en-IN" dirty="0"/>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594"/>
          </a:xfrm>
        </p:spPr>
        <p:txBody>
          <a:bodyPr>
            <a:normAutofit fontScale="90000"/>
          </a:bodyPr>
          <a:lstStyle/>
          <a:p>
            <a:r>
              <a:rPr lang="en-IN" b="1" dirty="0" err="1" smtClean="0"/>
              <a:t>Plugins</a:t>
            </a:r>
            <a:endParaRPr lang="en-IN" dirty="0"/>
          </a:p>
        </p:txBody>
      </p:sp>
      <p:sp>
        <p:nvSpPr>
          <p:cNvPr id="3" name="Content Placeholder 2"/>
          <p:cNvSpPr>
            <a:spLocks noGrp="1"/>
          </p:cNvSpPr>
          <p:nvPr>
            <p:ph idx="1"/>
          </p:nvPr>
        </p:nvSpPr>
        <p:spPr>
          <a:xfrm>
            <a:off x="457200" y="1142984"/>
            <a:ext cx="8229600" cy="4983179"/>
          </a:xfrm>
        </p:spPr>
        <p:txBody>
          <a:bodyPr>
            <a:normAutofit lnSpcReduction="10000"/>
          </a:bodyPr>
          <a:lstStyle/>
          <a:p>
            <a:r>
              <a:rPr lang="en-IN" dirty="0" err="1" smtClean="0"/>
              <a:t>Nagios</a:t>
            </a:r>
            <a:r>
              <a:rPr lang="en-IN" dirty="0" smtClean="0"/>
              <a:t> </a:t>
            </a:r>
            <a:r>
              <a:rPr lang="en-IN" dirty="0" err="1"/>
              <a:t>plugins</a:t>
            </a:r>
            <a:r>
              <a:rPr lang="en-IN" dirty="0"/>
              <a:t> provide low-level intelligence on how to monitor anything and everything with </a:t>
            </a:r>
            <a:r>
              <a:rPr lang="en-IN" dirty="0" err="1"/>
              <a:t>Nagios</a:t>
            </a:r>
            <a:r>
              <a:rPr lang="en-IN" dirty="0"/>
              <a:t> Core. </a:t>
            </a:r>
            <a:endParaRPr lang="en-IN" dirty="0" smtClean="0"/>
          </a:p>
          <a:p>
            <a:r>
              <a:rPr lang="en-IN" dirty="0" err="1" smtClean="0"/>
              <a:t>Plugins</a:t>
            </a:r>
            <a:r>
              <a:rPr lang="en-IN" dirty="0" smtClean="0"/>
              <a:t> </a:t>
            </a:r>
            <a:r>
              <a:rPr lang="en-IN" dirty="0"/>
              <a:t>operate acts as a standalone application, but they are designed to be executed by </a:t>
            </a:r>
            <a:r>
              <a:rPr lang="en-IN" dirty="0" err="1"/>
              <a:t>Nagios</a:t>
            </a:r>
            <a:r>
              <a:rPr lang="en-IN" dirty="0"/>
              <a:t> Core</a:t>
            </a:r>
            <a:r>
              <a:rPr lang="en-IN" dirty="0" smtClean="0"/>
              <a:t>.</a:t>
            </a:r>
            <a:endParaRPr lang="en-IN" dirty="0" smtClean="0"/>
          </a:p>
          <a:p>
            <a:r>
              <a:rPr lang="en-IN" dirty="0" smtClean="0"/>
              <a:t> </a:t>
            </a:r>
            <a:r>
              <a:rPr lang="en-IN" dirty="0"/>
              <a:t>It connects to Apache that is controlled by CGI to display the result. </a:t>
            </a:r>
            <a:endParaRPr lang="en-IN" dirty="0" smtClean="0"/>
          </a:p>
          <a:p>
            <a:r>
              <a:rPr lang="en-IN" dirty="0" smtClean="0"/>
              <a:t>A database </a:t>
            </a:r>
            <a:r>
              <a:rPr lang="en-IN" dirty="0"/>
              <a:t>connected to </a:t>
            </a:r>
            <a:r>
              <a:rPr lang="en-IN" dirty="0" err="1"/>
              <a:t>Nagios</a:t>
            </a:r>
            <a:r>
              <a:rPr lang="en-IN" dirty="0"/>
              <a:t> to keep a log file.</a:t>
            </a:r>
            <a:endParaRPr lang="en-IN"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How do </a:t>
            </a:r>
            <a:r>
              <a:rPr lang="en-IN" b="1" dirty="0" err="1"/>
              <a:t>plugins</a:t>
            </a:r>
            <a:r>
              <a:rPr lang="en-IN" b="1" dirty="0"/>
              <a:t> work?</a:t>
            </a:r>
            <a:endParaRPr lang="en-IN" dirty="0"/>
          </a:p>
        </p:txBody>
      </p:sp>
      <p:sp>
        <p:nvSpPr>
          <p:cNvPr id="3" name="Content Placeholder 2"/>
          <p:cNvSpPr>
            <a:spLocks noGrp="1"/>
          </p:cNvSpPr>
          <p:nvPr>
            <p:ph idx="1"/>
          </p:nvPr>
        </p:nvSpPr>
        <p:spPr>
          <a:xfrm>
            <a:off x="457200" y="4357694"/>
            <a:ext cx="8229600" cy="2268535"/>
          </a:xfrm>
        </p:spPr>
        <p:txBody>
          <a:bodyPr>
            <a:normAutofit fontScale="77500" lnSpcReduction="20000"/>
          </a:bodyPr>
          <a:lstStyle/>
          <a:p>
            <a:r>
              <a:rPr lang="en-IN" dirty="0" err="1" smtClean="0"/>
              <a:t>Check_nt</a:t>
            </a:r>
            <a:r>
              <a:rPr lang="en-IN" dirty="0" smtClean="0"/>
              <a:t> </a:t>
            </a:r>
            <a:r>
              <a:rPr lang="en-IN" dirty="0"/>
              <a:t>is a </a:t>
            </a:r>
            <a:r>
              <a:rPr lang="en-IN" dirty="0" err="1"/>
              <a:t>plugin</a:t>
            </a:r>
            <a:r>
              <a:rPr lang="en-IN" dirty="0"/>
              <a:t> to monitor a windows machine which is mostly available in the monitoring server</a:t>
            </a:r>
            <a:endParaRPr lang="en-IN" dirty="0"/>
          </a:p>
          <a:p>
            <a:r>
              <a:rPr lang="en-IN" dirty="0" err="1"/>
              <a:t>NSClinet</a:t>
            </a:r>
            <a:r>
              <a:rPr lang="en-IN" dirty="0"/>
              <a:t>++ should be installed in every Windows machine that you wants to monitor</a:t>
            </a:r>
            <a:endParaRPr lang="en-IN" dirty="0"/>
          </a:p>
          <a:p>
            <a:r>
              <a:rPr lang="en-IN" dirty="0"/>
              <a:t>There is an SSL connection between the server and the host which continuously exchange information with each other</a:t>
            </a:r>
            <a:endParaRPr lang="en-IN" dirty="0"/>
          </a:p>
          <a:p>
            <a:pPr>
              <a:buNone/>
            </a:pPr>
            <a:endParaRPr lang="en-IN" b="1" dirty="0"/>
          </a:p>
        </p:txBody>
      </p:sp>
      <p:pic>
        <p:nvPicPr>
          <p:cNvPr id="2051" name="Picture 3"/>
          <p:cNvPicPr>
            <a:picLocks noChangeAspect="1" noChangeArrowheads="1"/>
          </p:cNvPicPr>
          <p:nvPr/>
        </p:nvPicPr>
        <p:blipFill>
          <a:blip r:embed="rId1"/>
          <a:srcRect/>
          <a:stretch>
            <a:fillRect/>
          </a:stretch>
        </p:blipFill>
        <p:spPr bwMode="auto">
          <a:xfrm>
            <a:off x="571472" y="1500174"/>
            <a:ext cx="7929618" cy="278608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b="1" dirty="0"/>
              <a:t>Installing Nagios4 with </a:t>
            </a:r>
            <a:r>
              <a:rPr lang="en-IN" b="1" dirty="0" err="1" smtClean="0"/>
              <a:t>Docker</a:t>
            </a:r>
            <a:endParaRPr lang="en-IN" b="1" dirty="0"/>
          </a:p>
        </p:txBody>
      </p:sp>
      <p:sp>
        <p:nvSpPr>
          <p:cNvPr id="3" name="Content Placeholder 2"/>
          <p:cNvSpPr>
            <a:spLocks noGrp="1"/>
          </p:cNvSpPr>
          <p:nvPr>
            <p:ph idx="1"/>
          </p:nvPr>
        </p:nvSpPr>
        <p:spPr>
          <a:xfrm>
            <a:off x="457200" y="1214422"/>
            <a:ext cx="8229600" cy="4911741"/>
          </a:xfrm>
        </p:spPr>
        <p:txBody>
          <a:bodyPr/>
          <a:lstStyle/>
          <a:p>
            <a:r>
              <a:rPr lang="en-IN" dirty="0" smtClean="0"/>
              <a:t>Open Dockers</a:t>
            </a:r>
            <a:endParaRPr lang="en-IN" dirty="0" smtClean="0"/>
          </a:p>
          <a:p>
            <a:r>
              <a:rPr lang="en-IN" dirty="0" smtClean="0"/>
              <a:t>Open </a:t>
            </a:r>
            <a:r>
              <a:rPr lang="en-IN" dirty="0" err="1" smtClean="0"/>
              <a:t>Powershell</a:t>
            </a:r>
            <a:r>
              <a:rPr lang="en-IN" dirty="0" smtClean="0"/>
              <a:t> as Run as Administrator    and then pull the </a:t>
            </a:r>
            <a:r>
              <a:rPr lang="en-IN" dirty="0" err="1" smtClean="0"/>
              <a:t>nagios</a:t>
            </a:r>
            <a:r>
              <a:rPr lang="en-IN" dirty="0" smtClean="0"/>
              <a:t> from </a:t>
            </a:r>
            <a:r>
              <a:rPr lang="en-IN" dirty="0" err="1" smtClean="0"/>
              <a:t>docker</a:t>
            </a:r>
            <a:r>
              <a:rPr lang="en-IN" dirty="0" smtClean="0"/>
              <a:t> hub using command :</a:t>
            </a:r>
            <a:endParaRPr lang="en-IN" dirty="0" smtClean="0"/>
          </a:p>
          <a:p>
            <a:pPr>
              <a:buFont typeface="Wingdings" panose="05000000000000000000" pitchFamily="2" charset="2"/>
              <a:buChar char="ü"/>
            </a:pPr>
            <a:r>
              <a:rPr lang="en-IN" dirty="0" smtClean="0"/>
              <a:t>   </a:t>
            </a:r>
            <a:r>
              <a:rPr lang="en-IN" b="1" dirty="0" err="1" smtClean="0">
                <a:solidFill>
                  <a:srgbClr val="0070C0"/>
                </a:solidFill>
              </a:rPr>
              <a:t>docker</a:t>
            </a:r>
            <a:r>
              <a:rPr lang="en-IN" b="1" dirty="0" smtClean="0">
                <a:solidFill>
                  <a:srgbClr val="0070C0"/>
                </a:solidFill>
              </a:rPr>
              <a:t> </a:t>
            </a:r>
            <a:r>
              <a:rPr lang="en-IN" b="1" dirty="0">
                <a:solidFill>
                  <a:srgbClr val="0070C0"/>
                </a:solidFill>
              </a:rPr>
              <a:t>pull </a:t>
            </a:r>
            <a:r>
              <a:rPr lang="en-IN" b="1" dirty="0" err="1">
                <a:solidFill>
                  <a:srgbClr val="0070C0"/>
                </a:solidFill>
              </a:rPr>
              <a:t>jasonrivers</a:t>
            </a:r>
            <a:r>
              <a:rPr lang="en-IN" b="1" dirty="0">
                <a:solidFill>
                  <a:srgbClr val="0070C0"/>
                </a:solidFill>
              </a:rPr>
              <a:t>/</a:t>
            </a:r>
            <a:r>
              <a:rPr lang="en-IN" b="1" dirty="0" err="1">
                <a:solidFill>
                  <a:srgbClr val="0070C0"/>
                </a:solidFill>
              </a:rPr>
              <a:t>nagios:latest</a:t>
            </a:r>
            <a:endParaRPr lang="en-IN" b="1" dirty="0">
              <a:solidFill>
                <a:srgbClr val="0070C0"/>
              </a:solidFill>
            </a:endParaRPr>
          </a:p>
        </p:txBody>
      </p:sp>
      <p:cxnSp>
        <p:nvCxnSpPr>
          <p:cNvPr id="13" name="Straight Connector 12"/>
          <p:cNvCxnSpPr/>
          <p:nvPr/>
        </p:nvCxnSpPr>
        <p:spPr>
          <a:xfrm rot="16200000" flipH="1">
            <a:off x="4464843" y="5107793"/>
            <a:ext cx="142876" cy="71438"/>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flipV="1">
            <a:off x="4572000" y="5000636"/>
            <a:ext cx="571504" cy="214314"/>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pic>
        <p:nvPicPr>
          <p:cNvPr id="5" name="Picture 4"/>
          <p:cNvPicPr>
            <a:picLocks noChangeAspect="1"/>
          </p:cNvPicPr>
          <p:nvPr/>
        </p:nvPicPr>
        <p:blipFill>
          <a:blip r:embed="rId1"/>
          <a:stretch>
            <a:fillRect/>
          </a:stretch>
        </p:blipFill>
        <p:spPr>
          <a:xfrm>
            <a:off x="107950" y="3860800"/>
            <a:ext cx="8830310" cy="32842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b="1" dirty="0">
                <a:solidFill>
                  <a:srgbClr val="002060"/>
                </a:solidFill>
                <a:sym typeface="+mn-ea"/>
              </a:rPr>
              <a:t>Install Nagios Tool from Docker Hub</a:t>
            </a:r>
            <a:endParaRPr lang="en-US"/>
          </a:p>
        </p:txBody>
      </p:sp>
      <p:sp>
        <p:nvSpPr>
          <p:cNvPr id="3" name="Content Placeholder 2"/>
          <p:cNvSpPr>
            <a:spLocks noGrp="1"/>
          </p:cNvSpPr>
          <p:nvPr>
            <p:ph idx="1"/>
          </p:nvPr>
        </p:nvSpPr>
        <p:spPr/>
        <p:txBody>
          <a:bodyPr>
            <a:noAutofit/>
          </a:bodyPr>
          <a:p>
            <a:pPr marL="514350" indent="-514350" algn="just">
              <a:lnSpc>
                <a:spcPct val="150000"/>
              </a:lnSpc>
              <a:buAutoNum type="arabicPeriod"/>
            </a:pPr>
            <a:r>
              <a:rPr lang="en-US" sz="1500" dirty="0">
                <a:latin typeface="Times New Roman" panose="02020603050405020304" pitchFamily="18" charset="0"/>
                <a:cs typeface="Times New Roman" panose="02020603050405020304" pitchFamily="18" charset="0"/>
                <a:sym typeface="+mn-ea"/>
              </a:rPr>
              <a:t>Open Docker Desktop</a:t>
            </a:r>
            <a:endParaRPr lang="en-US" sz="1500" dirty="0">
              <a:solidFill>
                <a:schemeClr val="tx1"/>
              </a:solidFill>
              <a:latin typeface="Times New Roman" panose="02020603050405020304" pitchFamily="18" charset="0"/>
              <a:ea typeface="+mn-ea"/>
              <a:cs typeface="Times New Roman" panose="02020603050405020304" pitchFamily="18" charset="0"/>
            </a:endParaRPr>
          </a:p>
          <a:p>
            <a:pPr marL="514350" indent="-514350" algn="just">
              <a:lnSpc>
                <a:spcPct val="150000"/>
              </a:lnSpc>
              <a:buAutoNum type="arabicPeriod"/>
            </a:pPr>
            <a:r>
              <a:rPr lang="en-US" sz="1500" dirty="0">
                <a:latin typeface="Times New Roman" panose="02020603050405020304" pitchFamily="18" charset="0"/>
                <a:cs typeface="Times New Roman" panose="02020603050405020304" pitchFamily="18" charset="0"/>
                <a:sym typeface="+mn-ea"/>
              </a:rPr>
              <a:t>Open PowerShell as administrator and type the following command </a:t>
            </a:r>
            <a:endParaRPr lang="en-US" sz="1500" dirty="0">
              <a:solidFill>
                <a:schemeClr val="tx1"/>
              </a:solidFill>
              <a:latin typeface="Times New Roman" panose="02020603050405020304" pitchFamily="18" charset="0"/>
              <a:ea typeface="+mn-ea"/>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sym typeface="+mn-ea"/>
              </a:rPr>
              <a:t>	</a:t>
            </a:r>
            <a:r>
              <a:rPr lang="en-US" sz="1500" b="1" dirty="0">
                <a:solidFill>
                  <a:srgbClr val="FF0000"/>
                </a:solidFill>
                <a:latin typeface="Times New Roman" panose="02020603050405020304" pitchFamily="18" charset="0"/>
                <a:cs typeface="Times New Roman" panose="02020603050405020304" pitchFamily="18" charset="0"/>
                <a:sym typeface="+mn-ea"/>
              </a:rPr>
              <a:t>docker pull </a:t>
            </a:r>
            <a:r>
              <a:rPr lang="en-US" sz="1500" b="1" dirty="0" err="1">
                <a:solidFill>
                  <a:srgbClr val="FF0000"/>
                </a:solidFill>
                <a:latin typeface="Times New Roman" panose="02020603050405020304" pitchFamily="18" charset="0"/>
                <a:cs typeface="Times New Roman" panose="02020603050405020304" pitchFamily="18" charset="0"/>
                <a:sym typeface="+mn-ea"/>
              </a:rPr>
              <a:t>jasonrivers</a:t>
            </a:r>
            <a:r>
              <a:rPr lang="en-US" sz="1500" b="1" dirty="0">
                <a:solidFill>
                  <a:srgbClr val="FF0000"/>
                </a:solidFill>
                <a:latin typeface="Times New Roman" panose="02020603050405020304" pitchFamily="18" charset="0"/>
                <a:cs typeface="Times New Roman" panose="02020603050405020304" pitchFamily="18" charset="0"/>
                <a:sym typeface="+mn-ea"/>
              </a:rPr>
              <a:t>/</a:t>
            </a:r>
            <a:r>
              <a:rPr lang="en-US" sz="1500" b="1" dirty="0" err="1">
                <a:solidFill>
                  <a:srgbClr val="FF0000"/>
                </a:solidFill>
                <a:latin typeface="Times New Roman" panose="02020603050405020304" pitchFamily="18" charset="0"/>
                <a:cs typeface="Times New Roman" panose="02020603050405020304" pitchFamily="18" charset="0"/>
                <a:sym typeface="+mn-ea"/>
              </a:rPr>
              <a:t>nagios:latest</a:t>
            </a:r>
            <a:endParaRPr lang="en-US" sz="1500" b="1" dirty="0">
              <a:solidFill>
                <a:srgbClr val="FF0000"/>
              </a:solidFill>
              <a:latin typeface="Times New Roman" panose="02020603050405020304" pitchFamily="18" charset="0"/>
              <a:ea typeface="+mn-ea"/>
              <a:cs typeface="Times New Roman" panose="02020603050405020304" pitchFamily="18" charset="0"/>
            </a:endParaRPr>
          </a:p>
          <a:p>
            <a:pPr algn="just">
              <a:lnSpc>
                <a:spcPct val="150000"/>
              </a:lnSpc>
            </a:pPr>
            <a:r>
              <a:rPr lang="en-US" sz="1500" u="sng" dirty="0">
                <a:latin typeface="Times New Roman" panose="02020603050405020304" pitchFamily="18" charset="0"/>
                <a:cs typeface="Times New Roman" panose="02020603050405020304" pitchFamily="18" charset="0"/>
                <a:sym typeface="+mn-ea"/>
              </a:rPr>
              <a:t>Pull:</a:t>
            </a:r>
            <a:r>
              <a:rPr lang="en-US" sz="1500" dirty="0">
                <a:latin typeface="Times New Roman" panose="02020603050405020304" pitchFamily="18" charset="0"/>
                <a:cs typeface="Times New Roman" panose="02020603050405020304" pitchFamily="18" charset="0"/>
                <a:sym typeface="+mn-ea"/>
              </a:rPr>
              <a:t> This command is used to download a Docker image from a container registry. </a:t>
            </a:r>
            <a:endParaRPr lang="en-US" sz="1500" dirty="0">
              <a:solidFill>
                <a:schemeClr val="tx1"/>
              </a:solidFill>
              <a:latin typeface="Times New Roman" panose="02020603050405020304" pitchFamily="18" charset="0"/>
              <a:ea typeface="+mn-ea"/>
              <a:cs typeface="Times New Roman" panose="02020603050405020304" pitchFamily="18" charset="0"/>
            </a:endParaRPr>
          </a:p>
          <a:p>
            <a:pPr algn="just">
              <a:lnSpc>
                <a:spcPct val="150000"/>
              </a:lnSpc>
            </a:pPr>
            <a:r>
              <a:rPr lang="en-US" sz="1500" u="sng" dirty="0" err="1">
                <a:latin typeface="Times New Roman" panose="02020603050405020304" pitchFamily="18" charset="0"/>
                <a:cs typeface="Times New Roman" panose="02020603050405020304" pitchFamily="18" charset="0"/>
                <a:sym typeface="+mn-ea"/>
              </a:rPr>
              <a:t>jasonrivers</a:t>
            </a:r>
            <a:r>
              <a:rPr lang="en-US" sz="1500" u="sng" dirty="0">
                <a:latin typeface="Times New Roman" panose="02020603050405020304" pitchFamily="18" charset="0"/>
                <a:cs typeface="Times New Roman" panose="02020603050405020304" pitchFamily="18" charset="0"/>
                <a:sym typeface="+mn-ea"/>
              </a:rPr>
              <a:t>/</a:t>
            </a:r>
            <a:r>
              <a:rPr lang="en-US" sz="1500" u="sng" dirty="0" err="1">
                <a:latin typeface="Times New Roman" panose="02020603050405020304" pitchFamily="18" charset="0"/>
                <a:cs typeface="Times New Roman" panose="02020603050405020304" pitchFamily="18" charset="0"/>
                <a:sym typeface="+mn-ea"/>
              </a:rPr>
              <a:t>nagios</a:t>
            </a:r>
            <a:r>
              <a:rPr lang="en-US" sz="1500" u="sng" dirty="0">
                <a:latin typeface="Times New Roman" panose="02020603050405020304" pitchFamily="18" charset="0"/>
                <a:cs typeface="Times New Roman" panose="02020603050405020304" pitchFamily="18" charset="0"/>
                <a:sym typeface="+mn-ea"/>
              </a:rPr>
              <a:t>: </a:t>
            </a:r>
            <a:r>
              <a:rPr lang="en-US" sz="1500" dirty="0">
                <a:latin typeface="Times New Roman" panose="02020603050405020304" pitchFamily="18" charset="0"/>
                <a:cs typeface="Times New Roman" panose="02020603050405020304" pitchFamily="18" charset="0"/>
                <a:sym typeface="+mn-ea"/>
              </a:rPr>
              <a:t>This is the name of the Docker image. In this case, it's an image created by someone named Jason Rivers, and it contains Nagios, which is a popular open-source monitoring system.</a:t>
            </a:r>
            <a:endParaRPr lang="en-US" sz="1500" dirty="0">
              <a:solidFill>
                <a:schemeClr val="tx1"/>
              </a:solidFill>
              <a:latin typeface="Times New Roman" panose="02020603050405020304" pitchFamily="18" charset="0"/>
              <a:ea typeface="+mn-ea"/>
              <a:cs typeface="Times New Roman" panose="02020603050405020304" pitchFamily="18" charset="0"/>
            </a:endParaRPr>
          </a:p>
          <a:p>
            <a:pPr algn="just">
              <a:lnSpc>
                <a:spcPct val="150000"/>
              </a:lnSpc>
            </a:pPr>
            <a:r>
              <a:rPr lang="en-US" sz="1500" u="sng" dirty="0">
                <a:latin typeface="Times New Roman" panose="02020603050405020304" pitchFamily="18" charset="0"/>
                <a:cs typeface="Times New Roman" panose="02020603050405020304" pitchFamily="18" charset="0"/>
                <a:sym typeface="+mn-ea"/>
              </a:rPr>
              <a:t>:latest: </a:t>
            </a:r>
            <a:r>
              <a:rPr lang="en-US" sz="1500" dirty="0">
                <a:latin typeface="Times New Roman" panose="02020603050405020304" pitchFamily="18" charset="0"/>
                <a:cs typeface="Times New Roman" panose="02020603050405020304" pitchFamily="18" charset="0"/>
                <a:sym typeface="+mn-ea"/>
              </a:rPr>
              <a:t>This is a tag for the image. In Docker, images can have different versions or tags. ":latest" typically refers to the latest version of the image.</a:t>
            </a:r>
            <a:endParaRPr lang="en-US" sz="1500" dirty="0">
              <a:solidFill>
                <a:schemeClr val="tx1"/>
              </a:solidFill>
              <a:latin typeface="Times New Roman" panose="02020603050405020304" pitchFamily="18" charset="0"/>
              <a:ea typeface="+mn-ea"/>
              <a:cs typeface="Times New Roman" panose="02020603050405020304" pitchFamily="18" charset="0"/>
            </a:endParaRPr>
          </a:p>
          <a:p>
            <a:pPr algn="just">
              <a:lnSpc>
                <a:spcPct val="150000"/>
              </a:lnSpc>
            </a:pPr>
            <a:r>
              <a:rPr lang="en-US" sz="1500" dirty="0">
                <a:latin typeface="Times New Roman" panose="02020603050405020304" pitchFamily="18" charset="0"/>
                <a:cs typeface="Times New Roman" panose="02020603050405020304" pitchFamily="18" charset="0"/>
                <a:sym typeface="+mn-ea"/>
              </a:rPr>
              <a:t>By running the command </a:t>
            </a:r>
            <a:r>
              <a:rPr lang="en-US" sz="1500" b="1" dirty="0">
                <a:latin typeface="Times New Roman" panose="02020603050405020304" pitchFamily="18" charset="0"/>
                <a:cs typeface="Times New Roman" panose="02020603050405020304" pitchFamily="18" charset="0"/>
                <a:sym typeface="+mn-ea"/>
              </a:rPr>
              <a:t>"docker pull </a:t>
            </a:r>
            <a:r>
              <a:rPr lang="en-US" sz="1500" b="1" dirty="0" err="1">
                <a:latin typeface="Times New Roman" panose="02020603050405020304" pitchFamily="18" charset="0"/>
                <a:cs typeface="Times New Roman" panose="02020603050405020304" pitchFamily="18" charset="0"/>
                <a:sym typeface="+mn-ea"/>
              </a:rPr>
              <a:t>jasonrivers</a:t>
            </a:r>
            <a:r>
              <a:rPr lang="en-US" sz="1500" b="1" dirty="0">
                <a:latin typeface="Times New Roman" panose="02020603050405020304" pitchFamily="18" charset="0"/>
                <a:cs typeface="Times New Roman" panose="02020603050405020304" pitchFamily="18" charset="0"/>
                <a:sym typeface="+mn-ea"/>
              </a:rPr>
              <a:t>/</a:t>
            </a:r>
            <a:r>
              <a:rPr lang="en-US" sz="1500" b="1" dirty="0" err="1">
                <a:latin typeface="Times New Roman" panose="02020603050405020304" pitchFamily="18" charset="0"/>
                <a:cs typeface="Times New Roman" panose="02020603050405020304" pitchFamily="18" charset="0"/>
                <a:sym typeface="+mn-ea"/>
              </a:rPr>
              <a:t>nagios:latest</a:t>
            </a:r>
            <a:r>
              <a:rPr lang="en-US" sz="1500" b="1" dirty="0">
                <a:latin typeface="Times New Roman" panose="02020603050405020304" pitchFamily="18" charset="0"/>
                <a:cs typeface="Times New Roman" panose="02020603050405020304" pitchFamily="18" charset="0"/>
                <a:sym typeface="+mn-ea"/>
              </a:rPr>
              <a:t>," </a:t>
            </a:r>
            <a:r>
              <a:rPr lang="en-US" sz="1500" dirty="0">
                <a:latin typeface="Times New Roman" panose="02020603050405020304" pitchFamily="18" charset="0"/>
                <a:cs typeface="Times New Roman" panose="02020603050405020304" pitchFamily="18" charset="0"/>
                <a:sym typeface="+mn-ea"/>
              </a:rPr>
              <a:t>the Docker will download the latest version of the Nagios image created by Jason Rivers from the Docker Hub or another container registry. Once the download is complete, you can use this image to run Nagios containers on your system.</a:t>
            </a:r>
            <a:endParaRPr lang="en-US" sz="15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Shows </a:t>
            </a:r>
            <a:r>
              <a:rPr lang="en-IN" dirty="0" err="1" smtClean="0"/>
              <a:t>Nagios</a:t>
            </a:r>
            <a:r>
              <a:rPr lang="en-IN" dirty="0" smtClean="0"/>
              <a:t> is pulled successfully </a:t>
            </a:r>
            <a:endParaRPr lang="en-IN" dirty="0"/>
          </a:p>
        </p:txBody>
      </p:sp>
      <p:pic>
        <p:nvPicPr>
          <p:cNvPr id="4" name="Content Placeholder 3"/>
          <p:cNvPicPr>
            <a:picLocks noChangeAspect="1"/>
          </p:cNvPicPr>
          <p:nvPr>
            <p:ph idx="1"/>
          </p:nvPr>
        </p:nvPicPr>
        <p:blipFill>
          <a:blip r:embed="rId1"/>
          <a:stretch>
            <a:fillRect/>
          </a:stretch>
        </p:blipFill>
        <p:spPr>
          <a:xfrm>
            <a:off x="1180465" y="2597785"/>
            <a:ext cx="6781800" cy="2529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b="1" dirty="0" smtClean="0"/>
              <a:t>Run </a:t>
            </a:r>
            <a:r>
              <a:rPr lang="en-IN" b="1" dirty="0" err="1" smtClean="0"/>
              <a:t>Nagios</a:t>
            </a:r>
            <a:r>
              <a:rPr lang="en-IN" b="1" dirty="0" smtClean="0"/>
              <a:t> </a:t>
            </a:r>
            <a:endParaRPr lang="en-IN" b="1" dirty="0"/>
          </a:p>
        </p:txBody>
      </p:sp>
      <p:sp>
        <p:nvSpPr>
          <p:cNvPr id="3" name="Content Placeholder 2"/>
          <p:cNvSpPr>
            <a:spLocks noGrp="1"/>
          </p:cNvSpPr>
          <p:nvPr>
            <p:ph idx="1"/>
          </p:nvPr>
        </p:nvSpPr>
        <p:spPr>
          <a:xfrm>
            <a:off x="214282" y="1071546"/>
            <a:ext cx="8929718" cy="5054617"/>
          </a:xfrm>
        </p:spPr>
        <p:txBody>
          <a:bodyPr>
            <a:normAutofit/>
          </a:bodyPr>
          <a:lstStyle/>
          <a:p>
            <a:r>
              <a:rPr lang="en-IN" sz="2400" b="1" dirty="0" smtClean="0">
                <a:solidFill>
                  <a:srgbClr val="0070C0"/>
                </a:solidFill>
              </a:rPr>
              <a:t>PS :/windows/system32&gt;</a:t>
            </a:r>
            <a:r>
              <a:rPr lang="en-IN" sz="2400" b="1" dirty="0">
                <a:solidFill>
                  <a:srgbClr val="0070C0"/>
                </a:solidFill>
              </a:rPr>
              <a:t> </a:t>
            </a:r>
            <a:r>
              <a:rPr lang="en-US" altLang="en-US" sz="2400" dirty="0" smtClean="0"/>
              <a:t>docker start -ai nagios4</a:t>
            </a:r>
            <a:endParaRPr lang="en-US" altLang="en-US" sz="2400" dirty="0" smtClean="0"/>
          </a:p>
          <a:p>
            <a:r>
              <a:rPr lang="en-IN" sz="2400" dirty="0" smtClean="0"/>
              <a:t>It should show </a:t>
            </a:r>
            <a:r>
              <a:rPr lang="en-IN" sz="2400" dirty="0" err="1" smtClean="0"/>
              <a:t>Nagios</a:t>
            </a:r>
            <a:r>
              <a:rPr lang="en-IN" sz="2400" dirty="0" smtClean="0"/>
              <a:t> is Successfully launched</a:t>
            </a:r>
            <a:endParaRPr lang="en-IN" sz="2400" dirty="0" smtClean="0"/>
          </a:p>
          <a:p>
            <a:pPr>
              <a:buNone/>
            </a:pPr>
            <a:endParaRPr lang="en-IN" sz="2400" b="1" dirty="0">
              <a:solidFill>
                <a:srgbClr val="0070C0"/>
              </a:solidFill>
            </a:endParaRPr>
          </a:p>
        </p:txBody>
      </p:sp>
      <p:pic>
        <p:nvPicPr>
          <p:cNvPr id="5" name="Picture 4"/>
          <p:cNvPicPr>
            <a:picLocks noChangeAspect="1"/>
          </p:cNvPicPr>
          <p:nvPr/>
        </p:nvPicPr>
        <p:blipFill>
          <a:blip r:embed="rId1"/>
          <a:stretch>
            <a:fillRect/>
          </a:stretch>
        </p:blipFill>
        <p:spPr>
          <a:xfrm>
            <a:off x="683895" y="2976245"/>
            <a:ext cx="8799830" cy="34899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dirty="0">
                <a:sym typeface="+mn-ea"/>
              </a:rPr>
              <a:t>Open the </a:t>
            </a:r>
            <a:r>
              <a:rPr lang="en-IN" dirty="0" err="1">
                <a:sym typeface="+mn-ea"/>
              </a:rPr>
              <a:t>Nagios</a:t>
            </a:r>
            <a:r>
              <a:rPr lang="en-IN" dirty="0">
                <a:sym typeface="+mn-ea"/>
              </a:rPr>
              <a:t> </a:t>
            </a:r>
            <a:r>
              <a:rPr lang="en-IN" dirty="0" err="1">
                <a:sym typeface="+mn-ea"/>
              </a:rPr>
              <a:t>Webui</a:t>
            </a:r>
            <a:r>
              <a:rPr lang="en-IN" dirty="0">
                <a:sym typeface="+mn-ea"/>
              </a:rPr>
              <a:t> on port </a:t>
            </a:r>
            <a:r>
              <a:rPr lang="en-IN" dirty="0" smtClean="0">
                <a:sym typeface="+mn-ea"/>
              </a:rPr>
              <a:t>8888. (</a:t>
            </a:r>
            <a:r>
              <a:rPr lang="en-IN" smtClean="0">
                <a:sym typeface="+mn-ea"/>
              </a:rPr>
              <a:t>Type  locahost:8888)</a:t>
            </a:r>
            <a:endParaRPr lang="en-US"/>
          </a:p>
        </p:txBody>
      </p:sp>
      <p:pic>
        <p:nvPicPr>
          <p:cNvPr id="4" name="Content Placeholder 3"/>
          <p:cNvPicPr>
            <a:picLocks noChangeAspect="1"/>
          </p:cNvPicPr>
          <p:nvPr>
            <p:ph idx="1"/>
          </p:nvPr>
        </p:nvPicPr>
        <p:blipFill>
          <a:blip r:embed="rId1"/>
          <a:stretch>
            <a:fillRect/>
          </a:stretch>
        </p:blipFill>
        <p:spPr>
          <a:xfrm>
            <a:off x="457200" y="2215515"/>
            <a:ext cx="8229600" cy="32943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457200" y="2811780"/>
            <a:ext cx="8229600" cy="2101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b="1" dirty="0" smtClean="0"/>
              <a:t>Setting Credentials for web interface </a:t>
            </a:r>
            <a:endParaRPr lang="en-IN" b="1" dirty="0"/>
          </a:p>
        </p:txBody>
      </p:sp>
      <p:sp>
        <p:nvSpPr>
          <p:cNvPr id="3" name="Content Placeholder 2"/>
          <p:cNvSpPr>
            <a:spLocks noGrp="1"/>
          </p:cNvSpPr>
          <p:nvPr>
            <p:ph idx="1"/>
          </p:nvPr>
        </p:nvSpPr>
        <p:spPr>
          <a:xfrm>
            <a:off x="457200" y="1214422"/>
            <a:ext cx="8229600" cy="4911741"/>
          </a:xfrm>
        </p:spPr>
        <p:txBody>
          <a:bodyPr/>
          <a:lstStyle/>
          <a:p>
            <a:r>
              <a:rPr lang="en-IN" dirty="0"/>
              <a:t>Open the </a:t>
            </a:r>
            <a:r>
              <a:rPr lang="en-IN" dirty="0" err="1"/>
              <a:t>Nagios</a:t>
            </a:r>
            <a:r>
              <a:rPr lang="en-IN" dirty="0"/>
              <a:t> </a:t>
            </a:r>
            <a:r>
              <a:rPr lang="en-IN" dirty="0" err="1"/>
              <a:t>Webui</a:t>
            </a:r>
            <a:r>
              <a:rPr lang="en-IN" dirty="0"/>
              <a:t> on port </a:t>
            </a:r>
            <a:r>
              <a:rPr lang="en-IN" dirty="0" smtClean="0"/>
              <a:t>8888</a:t>
            </a:r>
            <a:r>
              <a:rPr lang="en-IN" dirty="0" smtClean="0"/>
              <a:t>. (</a:t>
            </a:r>
            <a:r>
              <a:rPr lang="en-IN" smtClean="0"/>
              <a:t>Type  locahost:8888)</a:t>
            </a:r>
            <a:endParaRPr lang="en-IN" dirty="0" smtClean="0"/>
          </a:p>
          <a:p>
            <a:r>
              <a:rPr lang="en-IN" dirty="0" smtClean="0"/>
              <a:t>Enter username :</a:t>
            </a:r>
            <a:r>
              <a:rPr lang="en-IN" b="1" dirty="0" smtClean="0">
                <a:solidFill>
                  <a:srgbClr val="0070C0"/>
                </a:solidFill>
              </a:rPr>
              <a:t> </a:t>
            </a:r>
            <a:r>
              <a:rPr lang="en-IN" b="1" dirty="0" err="1" smtClean="0">
                <a:solidFill>
                  <a:srgbClr val="0070C0"/>
                </a:solidFill>
              </a:rPr>
              <a:t>nagiosadmin</a:t>
            </a:r>
            <a:r>
              <a:rPr lang="en-IN" dirty="0"/>
              <a:t> </a:t>
            </a:r>
            <a:endParaRPr lang="en-IN" dirty="0" smtClean="0"/>
          </a:p>
          <a:p>
            <a:r>
              <a:rPr lang="en-IN" dirty="0" smtClean="0"/>
              <a:t>Enter password : </a:t>
            </a:r>
            <a:r>
              <a:rPr lang="en-IN" b="1" dirty="0" err="1" smtClean="0">
                <a:solidFill>
                  <a:srgbClr val="0070C0"/>
                </a:solidFill>
              </a:rPr>
              <a:t>nagios</a:t>
            </a:r>
            <a:endParaRPr lang="en-IN" b="1" dirty="0" smtClean="0">
              <a:solidFill>
                <a:srgbClr val="0070C0"/>
              </a:solidFill>
            </a:endParaRPr>
          </a:p>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p:cNvPicPr>
            <a:picLocks noChangeAspect="1"/>
          </p:cNvPicPr>
          <p:nvPr>
            <p:ph idx="1"/>
          </p:nvPr>
        </p:nvPicPr>
        <p:blipFill>
          <a:blip r:embed="rId1"/>
          <a:stretch>
            <a:fillRect/>
          </a:stretch>
        </p:blipFill>
        <p:spPr>
          <a:xfrm>
            <a:off x="457200" y="2806065"/>
            <a:ext cx="8229600" cy="21139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dirty="0" err="1" smtClean="0">
                <a:sym typeface="+mn-ea"/>
              </a:rPr>
              <a:t>Nagios</a:t>
            </a:r>
            <a:r>
              <a:rPr lang="en-IN" dirty="0" smtClean="0">
                <a:sym typeface="+mn-ea"/>
              </a:rPr>
              <a:t> dashboard to monitor services</a:t>
            </a:r>
            <a:endParaRPr lang="en-US"/>
          </a:p>
        </p:txBody>
      </p:sp>
      <p:pic>
        <p:nvPicPr>
          <p:cNvPr id="4" name="Content Placeholder 3"/>
          <p:cNvPicPr>
            <a:picLocks noChangeAspect="1"/>
          </p:cNvPicPr>
          <p:nvPr>
            <p:ph idx="1"/>
          </p:nvPr>
        </p:nvPicPr>
        <p:blipFill>
          <a:blip r:embed="rId1"/>
          <a:stretch>
            <a:fillRect/>
          </a:stretch>
        </p:blipFill>
        <p:spPr>
          <a:xfrm>
            <a:off x="570865" y="1600200"/>
            <a:ext cx="8001000" cy="45262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dirty="0" err="1" smtClean="0">
                <a:sym typeface="+mn-ea"/>
              </a:rPr>
              <a:t>Nagios</a:t>
            </a:r>
            <a:r>
              <a:rPr lang="en-US" altLang="en-IN" dirty="0" err="1" smtClean="0">
                <a:sym typeface="+mn-ea"/>
              </a:rPr>
              <a:t> services </a:t>
            </a:r>
            <a:endParaRPr lang="en-US" altLang="en-IN" dirty="0" err="1" smtClean="0">
              <a:sym typeface="+mn-ea"/>
            </a:endParaRPr>
          </a:p>
        </p:txBody>
      </p:sp>
      <p:pic>
        <p:nvPicPr>
          <p:cNvPr id="4" name="Content Placeholder 3"/>
          <p:cNvPicPr>
            <a:picLocks noChangeAspect="1"/>
          </p:cNvPicPr>
          <p:nvPr>
            <p:ph idx="1"/>
          </p:nvPr>
        </p:nvPicPr>
        <p:blipFill>
          <a:blip r:embed="rId1"/>
          <a:stretch>
            <a:fillRect/>
          </a:stretch>
        </p:blipFill>
        <p:spPr>
          <a:xfrm>
            <a:off x="457200" y="2216785"/>
            <a:ext cx="8229600" cy="32924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err="1" smtClean="0"/>
              <a:t>Nagios</a:t>
            </a:r>
            <a:r>
              <a:rPr lang="en-IN" dirty="0" smtClean="0"/>
              <a:t> dashboard to monitor services</a:t>
            </a:r>
            <a:endParaRPr lang="en-IN" dirty="0"/>
          </a:p>
        </p:txBody>
      </p:sp>
      <p:pic>
        <p:nvPicPr>
          <p:cNvPr id="4" name="Content Placeholder 4"/>
          <p:cNvPicPr>
            <a:picLocks noGrp="1" noChangeAspect="1"/>
          </p:cNvPicPr>
          <p:nvPr>
            <p:ph idx="1"/>
          </p:nvPr>
        </p:nvPicPr>
        <p:blipFill>
          <a:blip r:embed="rId1"/>
          <a:stretch>
            <a:fillRect/>
          </a:stretch>
        </p:blipFill>
        <p:spPr>
          <a:xfrm>
            <a:off x="457200" y="1142985"/>
            <a:ext cx="8229600" cy="5143536"/>
          </a:xfr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t>Click on HOST on left side</a:t>
            </a:r>
            <a:endParaRPr lang="en-IN" dirty="0"/>
          </a:p>
        </p:txBody>
      </p:sp>
      <p:sp>
        <p:nvSpPr>
          <p:cNvPr id="3" name="Content Placeholder 2"/>
          <p:cNvSpPr>
            <a:spLocks noGrp="1"/>
          </p:cNvSpPr>
          <p:nvPr>
            <p:ph idx="1"/>
          </p:nvPr>
        </p:nvSpPr>
        <p:spPr>
          <a:xfrm>
            <a:off x="457200" y="1000108"/>
            <a:ext cx="8229600" cy="5126055"/>
          </a:xfrm>
        </p:spPr>
        <p:txBody>
          <a:bodyPr/>
          <a:lstStyle/>
          <a:p>
            <a:r>
              <a:rPr lang="en-IN" dirty="0" smtClean="0"/>
              <a:t>It shows </a:t>
            </a:r>
            <a:r>
              <a:rPr lang="en-IN" dirty="0" err="1" smtClean="0"/>
              <a:t>localhost</a:t>
            </a:r>
            <a:endParaRPr lang="en-IN" dirty="0" smtClean="0"/>
          </a:p>
          <a:p>
            <a:r>
              <a:rPr lang="en-IN" dirty="0" smtClean="0"/>
              <a:t>Now click on </a:t>
            </a:r>
            <a:r>
              <a:rPr lang="en-IN" dirty="0" err="1" smtClean="0"/>
              <a:t>localhost</a:t>
            </a:r>
            <a:endParaRPr lang="en-IN" dirty="0"/>
          </a:p>
        </p:txBody>
      </p:sp>
      <p:pic>
        <p:nvPicPr>
          <p:cNvPr id="5" name="Picture 4"/>
          <p:cNvPicPr>
            <a:picLocks noChangeAspect="1"/>
          </p:cNvPicPr>
          <p:nvPr/>
        </p:nvPicPr>
        <p:blipFill>
          <a:blip r:embed="rId1"/>
          <a:stretch>
            <a:fillRect/>
          </a:stretch>
        </p:blipFill>
        <p:spPr>
          <a:xfrm>
            <a:off x="251460" y="2659380"/>
            <a:ext cx="9292590" cy="41986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fontScale="90000"/>
          </a:bodyPr>
          <a:lstStyle/>
          <a:p>
            <a:r>
              <a:rPr lang="en-IN" dirty="0" smtClean="0"/>
              <a:t>Click to view any service on left side</a:t>
            </a:r>
            <a:endParaRPr lang="en-IN" dirty="0"/>
          </a:p>
        </p:txBody>
      </p:sp>
      <p:pic>
        <p:nvPicPr>
          <p:cNvPr id="4" name="Content Placeholder 4"/>
          <p:cNvPicPr>
            <a:picLocks noGrp="1" noChangeAspect="1"/>
          </p:cNvPicPr>
          <p:nvPr>
            <p:ph idx="1"/>
          </p:nvPr>
        </p:nvPicPr>
        <p:blipFill>
          <a:blip r:embed="rId1"/>
          <a:stretch>
            <a:fillRect/>
          </a:stretch>
        </p:blipFill>
        <p:spPr>
          <a:xfrm>
            <a:off x="457200" y="1577483"/>
            <a:ext cx="8229600" cy="4185634"/>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1222"/>
          </a:xfrm>
        </p:spPr>
        <p:txBody>
          <a:bodyPr>
            <a:normAutofit/>
          </a:bodyPr>
          <a:lstStyle/>
          <a:p>
            <a:r>
              <a:rPr lang="en-IN" sz="2800" dirty="0" smtClean="0"/>
              <a:t>Services like </a:t>
            </a:r>
            <a:r>
              <a:rPr lang="en-IN" sz="2800" dirty="0" err="1" smtClean="0"/>
              <a:t>Currentload</a:t>
            </a:r>
            <a:r>
              <a:rPr lang="en-IN" sz="2800" dirty="0" smtClean="0"/>
              <a:t>, HTTP, </a:t>
            </a:r>
            <a:r>
              <a:rPr lang="en-IN" sz="2800" dirty="0" err="1" smtClean="0"/>
              <a:t>PING,etc</a:t>
            </a:r>
            <a:r>
              <a:rPr lang="en-IN" sz="2800" dirty="0" smtClean="0"/>
              <a:t> can viewed by clicking on the highlighted link</a:t>
            </a:r>
            <a:endParaRPr lang="en-IN" sz="2800" dirty="0"/>
          </a:p>
        </p:txBody>
      </p:sp>
      <p:pic>
        <p:nvPicPr>
          <p:cNvPr id="5122" name="Picture 2"/>
          <p:cNvPicPr>
            <a:picLocks noGrp="1" noChangeAspect="1" noChangeArrowheads="1"/>
          </p:cNvPicPr>
          <p:nvPr>
            <p:ph idx="1"/>
          </p:nvPr>
        </p:nvPicPr>
        <p:blipFill>
          <a:blip r:embed="rId1"/>
          <a:srcRect/>
          <a:stretch>
            <a:fillRect/>
          </a:stretch>
        </p:blipFill>
        <p:spPr bwMode="auto">
          <a:xfrm>
            <a:off x="500034" y="1428736"/>
            <a:ext cx="8143932" cy="5000659"/>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2400" y="77054"/>
            <a:ext cx="8839200" cy="780196"/>
          </a:xfrm>
          <a:prstGeom prst="rect">
            <a:avLst/>
          </a:prstGeom>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rPr>
              <a:t>If we observe the docker containers in </a:t>
            </a:r>
            <a:r>
              <a:rPr lang="en-US" sz="1800" dirty="0" err="1">
                <a:solidFill>
                  <a:schemeClr val="tx1"/>
                </a:solidFill>
                <a:latin typeface="Open Sans" panose="020B0606030504020204" pitchFamily="34" charset="0"/>
                <a:ea typeface="Open Sans" panose="020B0606030504020204" pitchFamily="34" charset="0"/>
                <a:cs typeface="Open Sans" panose="020B0606030504020204" pitchFamily="34" charset="0"/>
              </a:rPr>
              <a:t>DockerHub</a:t>
            </a:r>
            <a:r>
              <a:rPr lang="en-US" sz="1800" dirty="0">
                <a:solidFill>
                  <a:schemeClr val="tx1"/>
                </a:solidFill>
                <a:latin typeface="Open Sans" panose="020B0606030504020204" pitchFamily="34" charset="0"/>
                <a:ea typeface="Open Sans" panose="020B0606030504020204" pitchFamily="34" charset="0"/>
                <a:cs typeface="Open Sans" panose="020B0606030504020204" pitchFamily="34" charset="0"/>
              </a:rPr>
              <a:t>, we can see the latest Nagios Installed running on port:8888</a:t>
            </a:r>
            <a:endParaRPr lang="en-IN" sz="18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 name="Picture 3"/>
          <p:cNvPicPr>
            <a:picLocks noChangeAspect="1"/>
          </p:cNvPicPr>
          <p:nvPr/>
        </p:nvPicPr>
        <p:blipFill rotWithShape="1">
          <a:blip r:embed="rId1"/>
          <a:srcRect l="8657" t="5926" r="8589" b="11111"/>
          <a:stretch>
            <a:fillRect/>
          </a:stretch>
        </p:blipFill>
        <p:spPr>
          <a:xfrm>
            <a:off x="152400" y="857250"/>
            <a:ext cx="8839200" cy="57721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642918"/>
            <a:ext cx="8229600" cy="5511816"/>
          </a:xfrm>
        </p:spPr>
        <p:txBody>
          <a:bodyPr/>
          <a:lstStyle/>
          <a:p>
            <a:r>
              <a:rPr lang="en-IN" dirty="0" smtClean="0"/>
              <a:t>Thank You</a:t>
            </a:r>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4867</Words>
  <Application>WPS Presentation</Application>
  <PresentationFormat>On-screen Show (4:3)</PresentationFormat>
  <Paragraphs>123</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SimSun</vt:lpstr>
      <vt:lpstr>Wingdings</vt:lpstr>
      <vt:lpstr>Times New Roman</vt:lpstr>
      <vt:lpstr>Microsoft YaHei</vt:lpstr>
      <vt:lpstr>Arial Unicode MS</vt:lpstr>
      <vt:lpstr>Calibri</vt:lpstr>
      <vt:lpstr>Open Sans</vt:lpstr>
      <vt:lpstr>Segoe Print</vt:lpstr>
      <vt:lpstr>Office Theme</vt:lpstr>
      <vt:lpstr>Nagios </vt:lpstr>
      <vt:lpstr>Need Nagios tool</vt:lpstr>
      <vt:lpstr>Features of Nagios</vt:lpstr>
      <vt:lpstr>Continued...</vt:lpstr>
      <vt:lpstr>Nagios Architecture</vt:lpstr>
      <vt:lpstr>Architecture</vt:lpstr>
      <vt:lpstr>Plugins</vt:lpstr>
      <vt:lpstr>How do plugins work?</vt:lpstr>
      <vt:lpstr>Installing Nagios4 with Docker</vt:lpstr>
      <vt:lpstr>PowerPoint 演示文稿</vt:lpstr>
      <vt:lpstr>Shows Nagios is pulled successfully </vt:lpstr>
      <vt:lpstr>Run Nagios </vt:lpstr>
      <vt:lpstr>PowerPoint 演示文稿</vt:lpstr>
      <vt:lpstr>PowerPoint 演示文稿</vt:lpstr>
      <vt:lpstr>Setting Credentials for web interface </vt:lpstr>
      <vt:lpstr>PowerPoint 演示文稿</vt:lpstr>
      <vt:lpstr>PowerPoint 演示文稿</vt:lpstr>
      <vt:lpstr>PowerPoint 演示文稿</vt:lpstr>
      <vt:lpstr>Nagios dashboard to monitor services</vt:lpstr>
      <vt:lpstr>Click on HOST on left side</vt:lpstr>
      <vt:lpstr>Click to view any service on left side</vt:lpstr>
      <vt:lpstr>Services like Currentload, HTTP, PING,etc can viewed by clicking on the highlighted link</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Nagios</dc:title>
  <dc:creator>User</dc:creator>
  <cp:lastModifiedBy>Kumbham Bhargavi</cp:lastModifiedBy>
  <cp:revision>18</cp:revision>
  <dcterms:created xsi:type="dcterms:W3CDTF">2022-06-03T17:24:00Z</dcterms:created>
  <dcterms:modified xsi:type="dcterms:W3CDTF">2025-10-10T11:04:09Z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C3CE93A8F5264B0CB36C441498AAAF06_13</vt:lpwstr>
  </property>
  <property fmtid="{D5CDD505-2E9C-101B-9397-08002B2CF9AE}" pid="3" name="KSOProductBuildVer">
    <vt:lpwstr>1033-12.2.0.22549</vt:lpwstr>
  </property>
</Properties>
</file>